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60" r:id="rId4"/>
    <p:sldId id="259" r:id="rId5"/>
    <p:sldId id="261" r:id="rId6"/>
    <p:sldId id="263" r:id="rId7"/>
    <p:sldId id="265" r:id="rId8"/>
    <p:sldId id="267" r:id="rId9"/>
    <p:sldId id="268" r:id="rId10"/>
    <p:sldId id="270" r:id="rId11"/>
    <p:sldId id="262" r:id="rId12"/>
    <p:sldId id="264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8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9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7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77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6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7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64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5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2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7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8618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40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2540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00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16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79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8BAED-B89A-EC45-9ABA-871B3199639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C0F96CA-BDED-CD4F-A1AC-E89541CF3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4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4D1F-2C01-24DC-1B49-E5FD5CC92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dirty="0"/>
              <a:t>Evaluating Lossless LLM Weight Compression Algorithms on Representative Synthetic Data Across Quantization Formats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29FDF-A9A9-2FF2-701E-A148C49FA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Eric Gong</a:t>
            </a:r>
          </a:p>
        </p:txBody>
      </p:sp>
    </p:spTree>
    <p:extLst>
      <p:ext uri="{BB962C8B-B14F-4D97-AF65-F5344CB8AC3E}">
        <p14:creationId xmlns:p14="http://schemas.microsoft.com/office/powerpoint/2010/main" val="4456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3661-71A2-56E2-04D0-B621600A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638D-9306-42BC-4CE6-A886B880B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more and more LLM models by the day</a:t>
            </a:r>
          </a:p>
          <a:p>
            <a:pPr lvl="1"/>
            <a:r>
              <a:rPr lang="en-US" dirty="0"/>
              <a:t>3.27 PB of storage dedicated to LLMs in 2025</a:t>
            </a:r>
          </a:p>
          <a:p>
            <a:pPr lvl="1"/>
            <a:r>
              <a:rPr lang="en-US" dirty="0"/>
              <a:t>3.24 PB dedicated to fine-tuned variants of models (99.22% by storage)</a:t>
            </a:r>
          </a:p>
          <a:p>
            <a:r>
              <a:rPr lang="en-US" dirty="0"/>
              <a:t>How do we improve storage efficiency? </a:t>
            </a:r>
          </a:p>
          <a:p>
            <a:pPr lvl="1"/>
            <a:r>
              <a:rPr lang="en-US" dirty="0"/>
              <a:t>Repeated components (Tokenizer, Architecture, etc.)</a:t>
            </a:r>
          </a:p>
          <a:p>
            <a:pPr lvl="1"/>
            <a:r>
              <a:rPr lang="en-US" dirty="0"/>
              <a:t>Weights: Quantization vs. Compression</a:t>
            </a:r>
          </a:p>
        </p:txBody>
      </p:sp>
      <p:pic>
        <p:nvPicPr>
          <p:cNvPr id="1026" name="Picture 2" descr="Using FP8 and FP4 with Transformer Engine — Transformer Engine 2.14.0  documentation">
            <a:extLst>
              <a:ext uri="{FF2B5EF4-FFF2-40B4-BE49-F238E27FC236}">
                <a16:creationId xmlns:a16="http://schemas.microsoft.com/office/drawing/2014/main" id="{8AF18CC9-44AC-1761-2E88-D9C922D76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61" y="4559011"/>
            <a:ext cx="4087091" cy="229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36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9314-9857-10DD-081E-514899F2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Works</a:t>
            </a:r>
          </a:p>
        </p:txBody>
      </p:sp>
      <p:pic>
        <p:nvPicPr>
          <p:cNvPr id="5" name="Picture 4" descr="A paper with text and images&#10;&#10;AI-generated content may be incorrect.">
            <a:extLst>
              <a:ext uri="{FF2B5EF4-FFF2-40B4-BE49-F238E27FC236}">
                <a16:creationId xmlns:a16="http://schemas.microsoft.com/office/drawing/2014/main" id="{466A916E-875D-58F0-6BD3-330C4441C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667434"/>
            <a:ext cx="3854325" cy="4957878"/>
          </a:xfrm>
          <a:prstGeom prst="rect">
            <a:avLst/>
          </a:prstGeom>
        </p:spPr>
      </p:pic>
      <p:pic>
        <p:nvPicPr>
          <p:cNvPr id="7" name="Picture 6" descr="A paper with text and graphics&#10;&#10;AI-generated content may be incorrect.">
            <a:extLst>
              <a:ext uri="{FF2B5EF4-FFF2-40B4-BE49-F238E27FC236}">
                <a16:creationId xmlns:a16="http://schemas.microsoft.com/office/drawing/2014/main" id="{718DDDB3-09B7-DED8-E0F3-1C9EDC140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328" y="1385047"/>
            <a:ext cx="3957623" cy="5240265"/>
          </a:xfrm>
          <a:prstGeom prst="rect">
            <a:avLst/>
          </a:prstGeom>
        </p:spPr>
      </p:pic>
      <p:sp>
        <p:nvSpPr>
          <p:cNvPr id="8" name="Explosion 1 7">
            <a:extLst>
              <a:ext uri="{FF2B5EF4-FFF2-40B4-BE49-F238E27FC236}">
                <a16:creationId xmlns:a16="http://schemas.microsoft.com/office/drawing/2014/main" id="{2613966E-031E-10DB-13A0-B5942FA49203}"/>
              </a:ext>
            </a:extLst>
          </p:cNvPr>
          <p:cNvSpPr/>
          <p:nvPr/>
        </p:nvSpPr>
        <p:spPr>
          <a:xfrm>
            <a:off x="6771861" y="2139848"/>
            <a:ext cx="1060500" cy="292308"/>
          </a:xfrm>
          <a:prstGeom prst="irregularSeal1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81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4DEA-44AE-329E-AC42-9FDB39E0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Model Weight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06F6-6060-3592-291F-6EDD600B6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Observations on Model Weights</a:t>
            </a:r>
          </a:p>
          <a:p>
            <a:pPr lvl="1"/>
            <a:r>
              <a:rPr lang="en-US" dirty="0"/>
              <a:t>Model weights are normally distributed and centered at 0</a:t>
            </a:r>
          </a:p>
          <a:p>
            <a:pPr lvl="1"/>
            <a:r>
              <a:rPr lang="en-US" dirty="0"/>
              <a:t>There are a small number of outliers by magnitude (20x, with frequency &lt;0.1%)</a:t>
            </a:r>
          </a:p>
          <a:p>
            <a:pPr lvl="1"/>
            <a:r>
              <a:rPr lang="en-US" dirty="0"/>
              <a:t>Light fine-tuning changes very few weights (&lt;0.01%)</a:t>
            </a:r>
          </a:p>
        </p:txBody>
      </p:sp>
      <p:pic>
        <p:nvPicPr>
          <p:cNvPr id="5" name="Picture 4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D902F160-2C9E-6332-E043-991E07E05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22" y="4318001"/>
            <a:ext cx="4292600" cy="1219200"/>
          </a:xfrm>
          <a:prstGeom prst="rect">
            <a:avLst/>
          </a:prstGeom>
        </p:spPr>
      </p:pic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57BDF40-595A-E4D2-8648-8B1F7968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186" y="4318000"/>
            <a:ext cx="4508743" cy="121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9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9D87-4C98-4A07-9F6D-DC66DE5A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7DBAB-82DC-7924-525E-D6A28F0F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model weight pre-processing</a:t>
            </a:r>
          </a:p>
          <a:p>
            <a:pPr lvl="1"/>
            <a:r>
              <a:rPr lang="en-US" dirty="0"/>
              <a:t>Baseline</a:t>
            </a:r>
          </a:p>
          <a:p>
            <a:pPr lvl="1"/>
            <a:r>
              <a:rPr lang="en-US" dirty="0"/>
              <a:t>Split weights by byte</a:t>
            </a:r>
          </a:p>
          <a:p>
            <a:pPr lvl="1"/>
            <a:r>
              <a:rPr lang="en-US" dirty="0"/>
              <a:t>Split weights by semantics</a:t>
            </a:r>
          </a:p>
          <a:p>
            <a:pPr lvl="1"/>
            <a:r>
              <a:rPr lang="en-US" dirty="0"/>
              <a:t>Split weights by bit</a:t>
            </a:r>
          </a:p>
          <a:p>
            <a:pPr lvl="1"/>
            <a:r>
              <a:rPr lang="en-US" dirty="0"/>
              <a:t>Gorilla</a:t>
            </a:r>
          </a:p>
          <a:p>
            <a:r>
              <a:rPr lang="en-US" dirty="0"/>
              <a:t>Underlying Compressor</a:t>
            </a:r>
          </a:p>
          <a:p>
            <a:pPr lvl="1"/>
            <a:r>
              <a:rPr lang="en-US" dirty="0"/>
              <a:t>Huffman Encoding</a:t>
            </a:r>
          </a:p>
          <a:p>
            <a:pPr lvl="1"/>
            <a:r>
              <a:rPr lang="en-US" dirty="0" err="1"/>
              <a:t>Zstandard</a:t>
            </a:r>
            <a:r>
              <a:rPr lang="en-US" dirty="0"/>
              <a:t> (LZ77 + Huffman)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EAD046-D954-8963-3C10-6AB4030B1667}"/>
              </a:ext>
            </a:extLst>
          </p:cNvPr>
          <p:cNvSpPr txBox="1">
            <a:spLocks/>
          </p:cNvSpPr>
          <p:nvPr/>
        </p:nvSpPr>
        <p:spPr>
          <a:xfrm>
            <a:off x="4975668" y="2160588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Fine-tuned model weight pre-processing</a:t>
            </a:r>
          </a:p>
          <a:p>
            <a:pPr lvl="1"/>
            <a:r>
              <a:rPr lang="en-US" dirty="0"/>
              <a:t>Weight-pair XOR</a:t>
            </a:r>
          </a:p>
          <a:p>
            <a:pPr lvl="1"/>
            <a:r>
              <a:rPr lang="en-US" dirty="0"/>
              <a:t>Weight-pair XOR with Gorilla</a:t>
            </a:r>
          </a:p>
        </p:txBody>
      </p:sp>
    </p:spTree>
    <p:extLst>
      <p:ext uri="{BB962C8B-B14F-4D97-AF65-F5344CB8AC3E}">
        <p14:creationId xmlns:p14="http://schemas.microsoft.com/office/powerpoint/2010/main" val="202045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B120-4C2D-826D-1BCB-F1947BD9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Model: Pre-processing over compressor</a:t>
            </a: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C6B67DE-34E0-05F0-037C-0D6710937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6" y="2073409"/>
            <a:ext cx="9166328" cy="33709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2E3BB6-EEBF-038F-0390-CD66F689C567}"/>
              </a:ext>
            </a:extLst>
          </p:cNvPr>
          <p:cNvSpPr/>
          <p:nvPr/>
        </p:nvSpPr>
        <p:spPr>
          <a:xfrm>
            <a:off x="1198179" y="5065296"/>
            <a:ext cx="1261242" cy="2105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107554-3D85-20B5-0F6D-F66A41807734}"/>
              </a:ext>
            </a:extLst>
          </p:cNvPr>
          <p:cNvSpPr/>
          <p:nvPr/>
        </p:nvSpPr>
        <p:spPr>
          <a:xfrm>
            <a:off x="2692603" y="5071381"/>
            <a:ext cx="1261242" cy="2105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22E056-4052-4D18-7001-D1C9332E1F77}"/>
              </a:ext>
            </a:extLst>
          </p:cNvPr>
          <p:cNvSpPr/>
          <p:nvPr/>
        </p:nvSpPr>
        <p:spPr>
          <a:xfrm>
            <a:off x="4088199" y="5065296"/>
            <a:ext cx="1261242" cy="2105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157FD2-00D9-181B-A7F6-DEAE5687C8F1}"/>
              </a:ext>
            </a:extLst>
          </p:cNvPr>
          <p:cNvSpPr/>
          <p:nvPr/>
        </p:nvSpPr>
        <p:spPr>
          <a:xfrm>
            <a:off x="5533209" y="5065296"/>
            <a:ext cx="1261242" cy="2105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765857-5562-210A-8035-3F0C9D3A0BB5}"/>
              </a:ext>
            </a:extLst>
          </p:cNvPr>
          <p:cNvSpPr/>
          <p:nvPr/>
        </p:nvSpPr>
        <p:spPr>
          <a:xfrm>
            <a:off x="7026346" y="5065297"/>
            <a:ext cx="1261242" cy="2105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32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9C39-B14F-7801-11BE-25BE97A9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28D8-495D-E49C-0D10-E44DAC90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bits compress well</a:t>
            </a:r>
          </a:p>
        </p:txBody>
      </p:sp>
      <p:pic>
        <p:nvPicPr>
          <p:cNvPr id="4" name="Picture 3" descr="A graph of a person standing in front of a white background&#10;&#10;AI-generated content may be incorrect.">
            <a:extLst>
              <a:ext uri="{FF2B5EF4-FFF2-40B4-BE49-F238E27FC236}">
                <a16:creationId xmlns:a16="http://schemas.microsoft.com/office/drawing/2014/main" id="{9A7FE370-D073-59C7-03E0-DE2D835E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46654"/>
            <a:ext cx="8091528" cy="36422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3F10D6-D670-0A16-6642-A34B128E49B8}"/>
              </a:ext>
            </a:extLst>
          </p:cNvPr>
          <p:cNvSpPr/>
          <p:nvPr/>
        </p:nvSpPr>
        <p:spPr>
          <a:xfrm>
            <a:off x="1477107" y="5688932"/>
            <a:ext cx="433755" cy="278114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01672-6099-D182-DC65-9DD6670DD938}"/>
              </a:ext>
            </a:extLst>
          </p:cNvPr>
          <p:cNvSpPr/>
          <p:nvPr/>
        </p:nvSpPr>
        <p:spPr>
          <a:xfrm>
            <a:off x="1910861" y="5688932"/>
            <a:ext cx="3364523" cy="27811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F7F35B-B712-55F4-3D18-F908E332ABAA}"/>
              </a:ext>
            </a:extLst>
          </p:cNvPr>
          <p:cNvSpPr/>
          <p:nvPr/>
        </p:nvSpPr>
        <p:spPr>
          <a:xfrm>
            <a:off x="5275384" y="5688932"/>
            <a:ext cx="2942492" cy="27811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M7</a:t>
            </a:r>
          </a:p>
        </p:txBody>
      </p:sp>
    </p:spTree>
    <p:extLst>
      <p:ext uri="{BB962C8B-B14F-4D97-AF65-F5344CB8AC3E}">
        <p14:creationId xmlns:p14="http://schemas.microsoft.com/office/powerpoint/2010/main" val="288539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1BAF-6F5B-A9D3-27EA-D2582DB1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C67E-7E4F-61D4-D781-14F022F4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Exponential to Mantissa Bit Ratio</a:t>
            </a: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150706B-2C35-9652-61A5-F6533EEC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6" y="2073409"/>
            <a:ext cx="9166328" cy="3370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0A11AE-21DD-86AC-F257-B51A908035BF}"/>
              </a:ext>
            </a:extLst>
          </p:cNvPr>
          <p:cNvSpPr/>
          <p:nvPr/>
        </p:nvSpPr>
        <p:spPr>
          <a:xfrm>
            <a:off x="1292225" y="3858937"/>
            <a:ext cx="184425" cy="12020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CFE047-5828-BB59-C90E-199508632426}"/>
              </a:ext>
            </a:extLst>
          </p:cNvPr>
          <p:cNvSpPr/>
          <p:nvPr/>
        </p:nvSpPr>
        <p:spPr>
          <a:xfrm>
            <a:off x="2022475" y="3858937"/>
            <a:ext cx="184425" cy="12020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0BD8DB-A8CF-20BD-C5B5-6E8F65C63F24}"/>
              </a:ext>
            </a:extLst>
          </p:cNvPr>
          <p:cNvSpPr/>
          <p:nvPr/>
        </p:nvSpPr>
        <p:spPr>
          <a:xfrm>
            <a:off x="2752725" y="2801924"/>
            <a:ext cx="190225" cy="22590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E12518-0A9E-A8EF-369E-5B9D74CEDF44}"/>
              </a:ext>
            </a:extLst>
          </p:cNvPr>
          <p:cNvSpPr/>
          <p:nvPr/>
        </p:nvSpPr>
        <p:spPr>
          <a:xfrm>
            <a:off x="3482976" y="2801924"/>
            <a:ext cx="181526" cy="22590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92BBA3-509A-CC60-60EA-E325FAF45786}"/>
              </a:ext>
            </a:extLst>
          </p:cNvPr>
          <p:cNvSpPr/>
          <p:nvPr/>
        </p:nvSpPr>
        <p:spPr>
          <a:xfrm>
            <a:off x="4207426" y="2659118"/>
            <a:ext cx="190224" cy="2401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894492-A192-2263-D921-C506AD78CEA3}"/>
              </a:ext>
            </a:extLst>
          </p:cNvPr>
          <p:cNvSpPr/>
          <p:nvPr/>
        </p:nvSpPr>
        <p:spPr>
          <a:xfrm>
            <a:off x="4937676" y="2659117"/>
            <a:ext cx="187325" cy="2401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C5678A-02A2-6C4A-5047-8C0B1D64397F}"/>
              </a:ext>
            </a:extLst>
          </p:cNvPr>
          <p:cNvSpPr/>
          <p:nvPr/>
        </p:nvSpPr>
        <p:spPr>
          <a:xfrm>
            <a:off x="5667926" y="2801924"/>
            <a:ext cx="187325" cy="2259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45FEDE-4DD5-8E00-959F-BD73E09EF7F3}"/>
              </a:ext>
            </a:extLst>
          </p:cNvPr>
          <p:cNvSpPr/>
          <p:nvPr/>
        </p:nvSpPr>
        <p:spPr>
          <a:xfrm>
            <a:off x="6398176" y="2737833"/>
            <a:ext cx="187325" cy="23231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5BB47-E109-D045-9955-33E15A31A235}"/>
              </a:ext>
            </a:extLst>
          </p:cNvPr>
          <p:cNvSpPr/>
          <p:nvPr/>
        </p:nvSpPr>
        <p:spPr>
          <a:xfrm>
            <a:off x="7125527" y="2583809"/>
            <a:ext cx="187325" cy="2477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793269-9330-D261-961A-A913D043C073}"/>
              </a:ext>
            </a:extLst>
          </p:cNvPr>
          <p:cNvSpPr/>
          <p:nvPr/>
        </p:nvSpPr>
        <p:spPr>
          <a:xfrm>
            <a:off x="7852877" y="2583809"/>
            <a:ext cx="187325" cy="2477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1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62A-081A-24E0-CCE6-B774C7BB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Fine-tuned model: XOR Delta is </a:t>
            </a:r>
            <a:r>
              <a:rPr lang="en-US"/>
              <a:t>strong Compressor </a:t>
            </a:r>
            <a:r>
              <a:rPr lang="en-US" dirty="0"/>
              <a:t>is key for improvements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B412E65-3D4E-5F53-2DB0-46A73463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32000"/>
            <a:ext cx="7772400" cy="462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7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A34F-43E0-94C1-C0F2-F4C1F4B95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8D5A3-6A23-47E7-6823-52CAEADD8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Compression offers promise orthogonal to quantization</a:t>
            </a:r>
          </a:p>
          <a:p>
            <a:r>
              <a:rPr lang="en-US" dirty="0"/>
              <a:t>Insights for Future Development</a:t>
            </a:r>
          </a:p>
          <a:p>
            <a:pPr lvl="1"/>
            <a:r>
              <a:rPr lang="en-US" dirty="0"/>
              <a:t>Pre-processing is critical for full model weight compression</a:t>
            </a:r>
          </a:p>
          <a:p>
            <a:pPr lvl="1"/>
            <a:r>
              <a:rPr lang="en-US" dirty="0"/>
              <a:t>Sparsity optimization is critical for fine-tuned model deltas</a:t>
            </a:r>
          </a:p>
          <a:p>
            <a:r>
              <a:rPr lang="en-US" dirty="0"/>
              <a:t>Limitations of Synthetic Data</a:t>
            </a:r>
          </a:p>
          <a:p>
            <a:pPr lvl="1"/>
            <a:r>
              <a:rPr lang="en-US" dirty="0"/>
              <a:t>Application to model checkpoints?</a:t>
            </a:r>
          </a:p>
          <a:p>
            <a:pPr lvl="1"/>
            <a:r>
              <a:rPr lang="en-US" dirty="0"/>
              <a:t>Pareto distribution for weights by layer?</a:t>
            </a:r>
          </a:p>
          <a:p>
            <a:pPr lvl="1"/>
            <a:r>
              <a:rPr lang="en-US" dirty="0"/>
              <a:t>General analysis on a representative set of model weights across families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928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7283-44EB-223E-B26E-04613D86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against Variance Ablations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310D883-6CFA-481A-408C-FAE097319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19" y="1600199"/>
            <a:ext cx="9032037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37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E0C1-B4EF-7651-348F-8E6819C6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Mantissa bits compress under semantic split</a:t>
            </a:r>
          </a:p>
        </p:txBody>
      </p:sp>
      <p:pic>
        <p:nvPicPr>
          <p:cNvPr id="5" name="Picture 4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03020A39-8E67-DF0B-8136-E70DEA4C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71396"/>
            <a:ext cx="7772400" cy="41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3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5D6D-A8FF-C440-3EBC-FA711914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Throughput (Base Model)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8305D67-B09E-2CFF-8869-ADEAE26BE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400"/>
            <a:ext cx="8738716" cy="31678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C9D38D-2C36-3564-04A6-3A446144F6D5}"/>
              </a:ext>
            </a:extLst>
          </p:cNvPr>
          <p:cNvSpPr/>
          <p:nvPr/>
        </p:nvSpPr>
        <p:spPr>
          <a:xfrm>
            <a:off x="1588770" y="4800600"/>
            <a:ext cx="3191335" cy="2171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AE806-4FC0-1D26-6D33-FDBE76394850}"/>
              </a:ext>
            </a:extLst>
          </p:cNvPr>
          <p:cNvSpPr/>
          <p:nvPr/>
        </p:nvSpPr>
        <p:spPr>
          <a:xfrm>
            <a:off x="4975668" y="4800600"/>
            <a:ext cx="3279157" cy="2171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1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8BEA7-8868-8DD3-EA0D-A74CB280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9A72-D5D2-AF52-8521-5BE9DEF5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Throughput </a:t>
            </a:r>
            <a:br>
              <a:rPr lang="en-US" dirty="0"/>
            </a:br>
            <a:r>
              <a:rPr lang="en-US" dirty="0"/>
              <a:t>(Fine-tuned Model)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8307F73-75AD-EDE7-0884-B03B37B9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" y="1930399"/>
            <a:ext cx="7508240" cy="46608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CF1AEF-BA6F-2994-1E5C-B7025FDD4871}"/>
              </a:ext>
            </a:extLst>
          </p:cNvPr>
          <p:cNvSpPr/>
          <p:nvPr/>
        </p:nvSpPr>
        <p:spPr>
          <a:xfrm>
            <a:off x="1465943" y="6066971"/>
            <a:ext cx="2148114" cy="24674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11242-5314-2092-1E7A-BE6F5F8BD07D}"/>
              </a:ext>
            </a:extLst>
          </p:cNvPr>
          <p:cNvSpPr/>
          <p:nvPr/>
        </p:nvSpPr>
        <p:spPr>
          <a:xfrm>
            <a:off x="4219666" y="6066971"/>
            <a:ext cx="2148114" cy="24674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293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</TotalTime>
  <Words>264</Words>
  <Application>Microsoft Macintosh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Evaluating Lossless LLM Weight Compression Algorithms on Representative Synthetic Data Across Quantization Formats</vt:lpstr>
      <vt:lpstr>Background</vt:lpstr>
      <vt:lpstr>Current Works</vt:lpstr>
      <vt:lpstr>Synthetic Model Weight Generation</vt:lpstr>
      <vt:lpstr>Compression Algorithms</vt:lpstr>
      <vt:lpstr>Base Model: Pre-processing over compressor</vt:lpstr>
      <vt:lpstr>Exponential bits compress well</vt:lpstr>
      <vt:lpstr>Exponential to Mantissa Bit Ratio</vt:lpstr>
      <vt:lpstr>Fine-tuned model: XOR Delta is strong Compressor is key for improvements</vt:lpstr>
      <vt:lpstr>Conclusions</vt:lpstr>
      <vt:lpstr>Robustness against Variance Ablations</vt:lpstr>
      <vt:lpstr>Mantissa bits compress under semantic split</vt:lpstr>
      <vt:lpstr>Compression Throughput (Base Model)</vt:lpstr>
      <vt:lpstr>Compression Throughput  (Fine-tuned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Gong, Eric</dc:creator>
  <cp:lastModifiedBy>Gong, Eric</cp:lastModifiedBy>
  <cp:revision>55</cp:revision>
  <dcterms:created xsi:type="dcterms:W3CDTF">2026-04-29T03:34:12Z</dcterms:created>
  <dcterms:modified xsi:type="dcterms:W3CDTF">2026-04-29T14:56:19Z</dcterms:modified>
</cp:coreProperties>
</file>